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6858000" cy="9144000"/>
  <p:embeddedFontLst>
    <p:embeddedFont>
      <p:font typeface="Montserrat" panose="00000500000000000000"/>
      <p:regular r:id="rId16"/>
    </p:embeddedFont>
    <p:embeddedFont>
      <p:font typeface="Lato" panose="020F0502020204030203"/>
      <p:regular r:id="rId17"/>
    </p:embeddedFont>
    <p:embeddedFont>
      <p:font typeface="Merriweather" panose="00000500000000000000"/>
      <p:regular r:id="rId18"/>
      <p:bold r:id="rId19"/>
      <p:italic r:id="rId20"/>
      <p:boldItalic r:id="rId21"/>
    </p:embeddedFont>
    <p:embeddedFont>
      <p:font typeface="Georgia" panose="02040502050405020303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6a7d50280_0_6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6a7d50280_0_6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The website helps R bloggers and users to connect and follow each other</a:t>
            </a:r>
            <a:endParaRPr lang="en-GB" sz="1300"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300"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.</a:t>
            </a:r>
            <a:endParaRPr lang="en-GB" sz="1300"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6a7d50280_0_7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6a7d50280_0_7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 Bloggers was started by Tal Galili. After searching for numerous R blogs, Tal (well, me) decided that there must be more R blogs out there than he knows about, and maybe the best way for finding them is to make them find him.</a:t>
            </a:r>
            <a:endParaRPr lang="en-GB" sz="20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6a7d50280_0_7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a6a7d50280_0_7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Discover (for all): Find new R blogs you didn’t know about. And Search in them for content you want.</a:t>
            </a:r>
            <a:endParaRPr sz="1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Follow (for people who don’t use RSS): Enter your e-mail and subscribe to receive a daily digest with teasers of new posts from participating blogs.  You will more easily get a sense of hot topics in the R blogosphere.</a:t>
            </a:r>
            <a:endParaRPr sz="1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Connect (for facebook users): Click on “Fan this site” to become a “fan” of R Bloggers.  You can then “friend” other people and share thoughts on our wall. Or just by leaving comments on the original poster’s blog.</a:t>
            </a:r>
            <a:endParaRPr sz="1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Participate (for bloggers): Add your R blog to get increased visibility (for readers and search engines) with permanent links on our Contributors section.  Your blog will also gain visibility via our e-mail digest and through your presence on the main page with posts.</a:t>
            </a:r>
            <a:endParaRPr sz="1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050"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a6a7d50280_0_7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a6a7d50280_0_7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6a7d50280_0_6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6a7d50280_0_6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300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This site will aggregate feeds (only with permission!) from participating R blogs. The beginnings of each participating blog’s posts will automatically be displayed on the main page; inside every post there is a link to the  original blog and links to other related articles.  All participating blogs will have links in the “Contributors” section of our sidebar</a:t>
            </a:r>
            <a:endParaRPr lang="en-GB" sz="1300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6a7d50280_0_7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6a7d50280_0_7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</a:rPr>
              <a:t>Basically, a corrgram is a graphical representation of the cells of a matrix of correlations. The idea is to display the pattern of correlations in terms of their signs and magnitudes using visual thinning and correlation-based variable ordering. Moreover, the cells of the matrix can be shaded or colored to show the correlation value.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21B34"/>
                </a:solidFill>
                <a:highlight>
                  <a:srgbClr val="FFFFFF"/>
                </a:highlight>
              </a:rPr>
              <a:t>It is very useful to highlight the most correlated variables in a data table. In this plot, </a:t>
            </a:r>
            <a:r>
              <a:rPr lang="en-GB" sz="1200" b="1">
                <a:solidFill>
                  <a:srgbClr val="021B34"/>
                </a:solidFill>
                <a:highlight>
                  <a:srgbClr val="FFFFFF"/>
                </a:highlight>
              </a:rPr>
              <a:t>correlation coefficients</a:t>
            </a:r>
            <a:r>
              <a:rPr lang="en-GB" sz="1200">
                <a:solidFill>
                  <a:srgbClr val="021B34"/>
                </a:solidFill>
                <a:highlight>
                  <a:srgbClr val="FFFFFF"/>
                </a:highlight>
              </a:rPr>
              <a:t> is colored according to the value. </a:t>
            </a:r>
            <a:r>
              <a:rPr lang="en-GB" sz="1200" b="1">
                <a:solidFill>
                  <a:srgbClr val="021B34"/>
                </a:solidFill>
                <a:highlight>
                  <a:srgbClr val="FFFFFF"/>
                </a:highlight>
              </a:rPr>
              <a:t>Correlation matrix</a:t>
            </a:r>
            <a:r>
              <a:rPr lang="en-GB" sz="1200">
                <a:solidFill>
                  <a:srgbClr val="021B34"/>
                </a:solidFill>
                <a:highlight>
                  <a:srgbClr val="FFFFFF"/>
                </a:highlight>
              </a:rPr>
              <a:t> can be also reordered according to the degree of association between variables.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a6a7d50280_0_7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a6a7d50280_0_7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a6a7d50280_0_5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a6a7d50280_0_5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3" name="Google Shape;103;p10"/>
          <p:cNvSpPr txBox="1"/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5" name="Google Shape;125;p11"/>
          <p:cNvSpPr txBox="1"/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 panose="00000500000000000000"/>
              <a:buNone/>
              <a:defRPr sz="28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 panose="020F0502020204030203"/>
              <a:buChar char="●"/>
              <a:defRPr sz="13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72975" y="1638150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RBloggers</a:t>
            </a:r>
            <a:endParaRPr lang="en-GB"/>
          </a:p>
        </p:txBody>
      </p:sp>
      <p:sp>
        <p:nvSpPr>
          <p:cNvPr id="135" name="Google Shape;135;p13"/>
          <p:cNvSpPr txBox="1"/>
          <p:nvPr>
            <p:ph type="subTitle" idx="1"/>
          </p:nvPr>
        </p:nvSpPr>
        <p:spPr>
          <a:xfrm>
            <a:off x="390525" y="3712205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Tinghan Zhu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R-Bloggers.com?</a:t>
            </a:r>
            <a:endParaRPr lang="en-GB"/>
          </a:p>
        </p:txBody>
      </p:sp>
      <p:sp>
        <p:nvSpPr>
          <p:cNvPr id="141" name="Google Shape;141;p14"/>
          <p:cNvSpPr txBox="1"/>
          <p:nvPr>
            <p:ph type="body" idx="1"/>
          </p:nvPr>
        </p:nvSpPr>
        <p:spPr>
          <a:xfrm>
            <a:off x="1297500" y="27790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000">
                <a:latin typeface="Merriweather" panose="00000500000000000000"/>
                <a:ea typeface="Merriweather" panose="00000500000000000000"/>
                <a:cs typeface="Merriweather" panose="00000500000000000000"/>
                <a:sym typeface="Merriweather" panose="00000500000000000000"/>
              </a:rPr>
              <a:t>R-Bloggers is about empowering bloggers to empower other R users. R-Bloggers.com is a blog aggregator of content contributed by bloggers who write about R (in English). </a:t>
            </a:r>
            <a:endParaRPr sz="2000">
              <a:latin typeface="Merriweather" panose="00000500000000000000"/>
              <a:ea typeface="Merriweather" panose="00000500000000000000"/>
              <a:cs typeface="Merriweather" panose="00000500000000000000"/>
              <a:sym typeface="Merriweather" panose="00000500000000000000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414513"/>
            <a:ext cx="8839199" cy="99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started R-Bloggers</a:t>
            </a:r>
            <a:r>
              <a:rPr lang="en-GB"/>
              <a:t> (and why)?</a:t>
            </a:r>
            <a:endParaRPr lang="en-GB"/>
          </a:p>
        </p:txBody>
      </p:sp>
      <p:sp>
        <p:nvSpPr>
          <p:cNvPr id="148" name="Google Shape;148;p15"/>
          <p:cNvSpPr txBox="1"/>
          <p:nvPr>
            <p:ph type="body" idx="1"/>
          </p:nvPr>
        </p:nvSpPr>
        <p:spPr>
          <a:xfrm>
            <a:off x="936950" y="1911275"/>
            <a:ext cx="48243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 Bloggers was started by Tal Galili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000"/>
              <a:t>“Make them find him”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80250" y="1596400"/>
            <a:ext cx="2563751" cy="35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does R-Bloggers offer you?</a:t>
            </a:r>
            <a:endParaRPr lang="en-GB"/>
          </a:p>
        </p:txBody>
      </p:sp>
      <p:sp>
        <p:nvSpPr>
          <p:cNvPr id="155" name="Google Shape;155;p16"/>
          <p:cNvSpPr txBox="1"/>
          <p:nvPr>
            <p:ph type="body" idx="1"/>
          </p:nvPr>
        </p:nvSpPr>
        <p:spPr>
          <a:xfrm>
            <a:off x="980200" y="1610725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Discover (for all):</a:t>
            </a:r>
            <a:endParaRPr sz="200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Follow (for people who don’t use RSS): </a:t>
            </a:r>
            <a:endParaRPr sz="200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Connect (for facebook users): </a:t>
            </a:r>
            <a:endParaRPr sz="200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Participate (for bloggers):  </a:t>
            </a:r>
            <a:endParaRPr sz="200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10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050" b="1">
              <a:solidFill>
                <a:srgbClr val="FFFFFF"/>
              </a:solidFill>
              <a:highlight>
                <a:srgbClr val="FFFFFF"/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Statistics from R-bloggers</a:t>
            </a:r>
            <a:endParaRPr lang="en-GB"/>
          </a:p>
        </p:txBody>
      </p:sp>
      <p:sp>
        <p:nvSpPr>
          <p:cNvPr id="161" name="Google Shape;161;p17"/>
          <p:cNvSpPr txBox="1"/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· Since 2014, there have been more than 160 posts per month (and up to as many as 250 in one month) aggregated on R-bloggers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/>
              <a:t>· Most posts appear on Mondays and Tuesdays. Sunday is the quietest day for R bloggers.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/>
              <a:t>· More than 1,000 authors have been published on the site.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/>
              <a:t>· And (with more than a modicum of personal pride here), the top 10 authors on the site, measured by total engagement, are: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 Bloggers: David Smith</a:t>
            </a:r>
            <a:endParaRPr lang="en-GB"/>
          </a:p>
        </p:txBody>
      </p:sp>
      <p:sp>
        <p:nvSpPr>
          <p:cNvPr id="167" name="Google Shape;167;p18"/>
          <p:cNvSpPr txBox="1"/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097375" y="1473850"/>
            <a:ext cx="3046624" cy="366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" y="1473850"/>
            <a:ext cx="6097387" cy="366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Correlogram</a:t>
            </a:r>
            <a:endParaRPr lang="en-GB"/>
          </a:p>
        </p:txBody>
      </p:sp>
      <p:sp>
        <p:nvSpPr>
          <p:cNvPr id="175" name="Google Shape;175;p19"/>
          <p:cNvSpPr txBox="1"/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220449" y="1380025"/>
            <a:ext cx="6450700" cy="21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20"/>
          <p:cNvSpPr txBox="1"/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460950" y="2270400"/>
            <a:ext cx="82221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 for Listening!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 lang="en-GB"/>
          </a:p>
        </p:txBody>
      </p:sp>
      <p:sp>
        <p:nvSpPr>
          <p:cNvPr id="189" name="Google Shape;189;p21"/>
          <p:cNvSpPr txBox="1"/>
          <p:nvPr/>
        </p:nvSpPr>
        <p:spPr>
          <a:xfrm>
            <a:off x="902850" y="3634525"/>
            <a:ext cx="73383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Tinghan Zhu</a:t>
            </a:r>
            <a:endParaRPr b="1">
              <a:solidFill>
                <a:srgbClr val="FFFF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WPS Presentation</Application>
  <PresentationFormat/>
  <Paragraphs>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Arial</vt:lpstr>
      <vt:lpstr>Montserrat</vt:lpstr>
      <vt:lpstr>Lato</vt:lpstr>
      <vt:lpstr>Merriweather</vt:lpstr>
      <vt:lpstr>Times New Roman</vt:lpstr>
      <vt:lpstr>Georgia</vt:lpstr>
      <vt:lpstr>微软雅黑</vt:lpstr>
      <vt:lpstr>Arial Unicode MS</vt:lpstr>
      <vt:lpstr>Focus</vt:lpstr>
      <vt:lpstr>RBloggers</vt:lpstr>
      <vt:lpstr>What is R-Bloggers.com?</vt:lpstr>
      <vt:lpstr>Who started R-Bloggers (and why)?</vt:lpstr>
      <vt:lpstr>What does R-Bloggers offer you?</vt:lpstr>
      <vt:lpstr>Statistics from R-bloggers</vt:lpstr>
      <vt:lpstr>Top Bloggers: David Smith</vt:lpstr>
      <vt:lpstr>Example: Correlogram</vt:lpstr>
      <vt:lpstr>PowerPoint 演示文稿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RBloggers</dc:title>
  <dc:creator/>
  <cp:lastModifiedBy>google1586304504</cp:lastModifiedBy>
  <cp:revision>2</cp:revision>
  <dcterms:created xsi:type="dcterms:W3CDTF">2020-11-02T06:56:22Z</dcterms:created>
  <dcterms:modified xsi:type="dcterms:W3CDTF">2020-11-02T06:56:36Z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